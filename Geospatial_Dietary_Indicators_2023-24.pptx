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2.xml" ContentType="application/vnd.openxmlformats-officedocument.presentationml.notesSlide+xml"/>
  <Override PartName="/ppt/charts/chart10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234F5-39E7-44C4-B294-34BBEBC58296}" v="2" dt="2026-03-27T21:56:07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0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Atyeo" userId="865be42d36563b4e" providerId="LiveId" clId="{A3ADFEDD-8A2C-4D76-8BFE-197660FC3AE3}"/>
    <pc:docChg chg="modSld">
      <pc:chgData name="Paul Atyeo" userId="865be42d36563b4e" providerId="LiveId" clId="{A3ADFEDD-8A2C-4D76-8BFE-197660FC3AE3}" dt="2026-03-27T21:57:18.227" v="46" actId="6549"/>
      <pc:docMkLst>
        <pc:docMk/>
      </pc:docMkLst>
      <pc:sldChg chg="modSp mod">
        <pc:chgData name="Paul Atyeo" userId="865be42d36563b4e" providerId="LiveId" clId="{A3ADFEDD-8A2C-4D76-8BFE-197660FC3AE3}" dt="2026-03-27T21:38:50.477" v="0" actId="14100"/>
        <pc:sldMkLst>
          <pc:docMk/>
          <pc:sldMk cId="0" sldId="257"/>
        </pc:sldMkLst>
        <pc:spChg chg="mod">
          <ac:chgData name="Paul Atyeo" userId="865be42d36563b4e" providerId="LiveId" clId="{A3ADFEDD-8A2C-4D76-8BFE-197660FC3AE3}" dt="2026-03-27T21:38:50.477" v="0" actId="14100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Paul Atyeo" userId="865be42d36563b4e" providerId="LiveId" clId="{A3ADFEDD-8A2C-4D76-8BFE-197660FC3AE3}" dt="2026-03-27T21:57:18.227" v="46" actId="6549"/>
        <pc:sldMkLst>
          <pc:docMk/>
          <pc:sldMk cId="0" sldId="259"/>
        </pc:sldMkLst>
        <pc:spChg chg="mod">
          <ac:chgData name="Paul Atyeo" userId="865be42d36563b4e" providerId="LiveId" clId="{A3ADFEDD-8A2C-4D76-8BFE-197660FC3AE3}" dt="2026-03-27T21:57:18.227" v="46" actId="6549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Paul Atyeo" userId="865be42d36563b4e" providerId="LiveId" clId="{A3ADFEDD-8A2C-4D76-8BFE-197660FC3AE3}" dt="2026-03-27T21:44:45.205" v="7" actId="207"/>
        <pc:sldMkLst>
          <pc:docMk/>
          <pc:sldMk cId="0" sldId="262"/>
        </pc:sldMkLst>
        <pc:spChg chg="mod">
          <ac:chgData name="Paul Atyeo" userId="865be42d36563b4e" providerId="LiveId" clId="{A3ADFEDD-8A2C-4D76-8BFE-197660FC3AE3}" dt="2026-03-27T21:44:45.205" v="7" actId="207"/>
          <ac:spMkLst>
            <pc:docMk/>
            <pc:sldMk cId="0" sldId="262"/>
            <ac:spMk id="4" creationId="{00000000-0000-0000-0000-000000000000}"/>
          </ac:spMkLst>
        </pc:spChg>
        <pc:graphicFrameChg chg="mod">
          <ac:chgData name="Paul Atyeo" userId="865be42d36563b4e" providerId="LiveId" clId="{A3ADFEDD-8A2C-4D76-8BFE-197660FC3AE3}" dt="2026-03-27T21:44:06.485" v="6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Paul Atyeo" userId="865be42d36563b4e" providerId="LiveId" clId="{A3ADFEDD-8A2C-4D76-8BFE-197660FC3AE3}" dt="2026-03-27T21:56:07.200" v="8"/>
        <pc:sldMkLst>
          <pc:docMk/>
          <pc:sldMk cId="0" sldId="263"/>
        </pc:sldMkLst>
        <pc:graphicFrameChg chg="mod">
          <ac:chgData name="Paul Atyeo" userId="865be42d36563b4e" providerId="LiveId" clId="{A3ADFEDD-8A2C-4D76-8BFE-197660FC3AE3}" dt="2026-03-27T21:56:07.200" v="8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SSB (g/10,000 kJ)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
Most
disadv.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
Least
disadv.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203.1</c:v>
                </c:pt>
                <c:pt idx="1">
                  <c:v>179.2</c:v>
                </c:pt>
                <c:pt idx="2">
                  <c:v>156.19999999999999</c:v>
                </c:pt>
                <c:pt idx="3">
                  <c:v>140.6</c:v>
                </c:pt>
                <c:pt idx="4">
                  <c:v>114.7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A6-432A-8A89-216E1F1527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higher in Q1 vs Q5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Margarine</c:v>
                </c:pt>
                <c:pt idx="1">
                  <c:v>Soft drinks</c:v>
                </c:pt>
                <c:pt idx="2">
                  <c:v>Sugar products</c:v>
                </c:pt>
                <c:pt idx="3">
                  <c:v>Sausages</c:v>
                </c:pt>
                <c:pt idx="4">
                  <c:v>Processed meat</c:v>
                </c:pt>
                <c:pt idx="5">
                  <c:v>Chicken products*</c:v>
                </c:pt>
                <c:pt idx="6">
                  <c:v>Pastries</c:v>
                </c:pt>
                <c:pt idx="7">
                  <c:v>Cakes</c:v>
                </c:pt>
                <c:pt idx="8">
                  <c:v>Sweet biscuits</c:v>
                </c:pt>
                <c:pt idx="9">
                  <c:v>Snack foods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</c:v>
                </c:pt>
                <c:pt idx="1">
                  <c:v>55</c:v>
                </c:pt>
                <c:pt idx="2">
                  <c:v>47</c:v>
                </c:pt>
                <c:pt idx="3">
                  <c:v>40</c:v>
                </c:pt>
                <c:pt idx="4">
                  <c:v>37</c:v>
                </c:pt>
                <c:pt idx="5">
                  <c:v>30</c:v>
                </c:pt>
                <c:pt idx="6">
                  <c:v>18</c:v>
                </c:pt>
                <c:pt idx="7">
                  <c:v>18</c:v>
                </c:pt>
                <c:pt idx="8">
                  <c:v>16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B-4D3A-967D-DC3C8D7A05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Fruit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</c:v>
                </c:pt>
                <c:pt idx="1">
                  <c:v>147.6</c:v>
                </c:pt>
                <c:pt idx="2">
                  <c:v>159.5</c:v>
                </c:pt>
                <c:pt idx="3">
                  <c:v>172.5</c:v>
                </c:pt>
                <c:pt idx="4">
                  <c:v>191.8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FF-4F23-9AD7-2E20AFDD7B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Vegetables</c:v>
                </c:pt>
              </c:strCache>
            </c:strRef>
          </c:tx>
          <c:spPr>
            <a:solidFill>
              <a:srgbClr val="2EA04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193.7</c:v>
                </c:pt>
                <c:pt idx="1">
                  <c:v>206.4</c:v>
                </c:pt>
                <c:pt idx="2">
                  <c:v>213.3</c:v>
                </c:pt>
                <c:pt idx="3">
                  <c:v>223.3</c:v>
                </c:pt>
                <c:pt idx="4">
                  <c:v>240.7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FF-4F23-9AD7-2E20AFDD7B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Chocolate</c:v>
                </c:pt>
              </c:strCache>
            </c:strRef>
          </c:tx>
          <c:spPr>
            <a:solidFill>
              <a:srgbClr val="D299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18.3</c:v>
                </c:pt>
                <c:pt idx="1">
                  <c:v>19.399999999999999</c:v>
                </c:pt>
                <c:pt idx="2">
                  <c:v>19.7</c:v>
                </c:pt>
                <c:pt idx="3">
                  <c:v>19.899999999999999</c:v>
                </c:pt>
                <c:pt idx="4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6-4409-9F08-A1E3E102E6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Lollies/other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9.1</c:v>
                </c:pt>
                <c:pt idx="1">
                  <c:v>9.4</c:v>
                </c:pt>
                <c:pt idx="2">
                  <c:v>9.1999999999999993</c:v>
                </c:pt>
                <c:pt idx="3">
                  <c:v>9.1999999999999993</c:v>
                </c:pt>
                <c:pt idx="4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36-4409-9F08-A1E3E102E6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(most disadv.)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Beef/lamb/pork
(unproc)</c:v>
                </c:pt>
                <c:pt idx="1">
                  <c:v>Poultry
(unproc)</c:v>
                </c:pt>
                <c:pt idx="2">
                  <c:v>Sausages</c:v>
                </c:pt>
                <c:pt idx="3">
                  <c:v>Processed
meat</c:v>
                </c:pt>
                <c:pt idx="4">
                  <c:v>Chicken
products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50.7</c:v>
                </c:pt>
                <c:pt idx="1">
                  <c:v>54.6</c:v>
                </c:pt>
                <c:pt idx="2">
                  <c:v>14.2</c:v>
                </c:pt>
                <c:pt idx="3">
                  <c:v>22</c:v>
                </c:pt>
                <c:pt idx="4">
                  <c:v>15.7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5-4C55-A1D8-154B8E126A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Q5 (least disadv.)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Beef/lamb/pork
(unproc)</c:v>
                </c:pt>
                <c:pt idx="1">
                  <c:v>Poultry
(unproc)</c:v>
                </c:pt>
                <c:pt idx="2">
                  <c:v>Sausages</c:v>
                </c:pt>
                <c:pt idx="3">
                  <c:v>Processed
meat</c:v>
                </c:pt>
                <c:pt idx="4">
                  <c:v>Chicken
products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</c:v>
                </c:pt>
                <c:pt idx="1">
                  <c:v>58.3</c:v>
                </c:pt>
                <c:pt idx="2">
                  <c:v>10.199999999999999</c:v>
                </c:pt>
                <c:pt idx="3">
                  <c:v>16.100000000000001</c:v>
                </c:pt>
                <c:pt idx="4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75-4C55-A1D8-154B8E126A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(most disadv.)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Butter</c:v>
                </c:pt>
                <c:pt idx="1">
                  <c:v>Margarine</c:v>
                </c:pt>
                <c:pt idx="2">
                  <c:v>Olive oil</c:v>
                </c:pt>
                <c:pt idx="3">
                  <c:v>Canola oil</c:v>
                </c:pt>
                <c:pt idx="4">
                  <c:v>Sunflower &amp;
veg oil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5.7</c:v>
                </c:pt>
                <c:pt idx="2">
                  <c:v>3.5</c:v>
                </c:pt>
                <c:pt idx="3">
                  <c:v>3.8</c:v>
                </c:pt>
                <c:pt idx="4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76-4975-BE44-7AA23BE7B2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Q5 (least disadv.)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Butter</c:v>
                </c:pt>
                <c:pt idx="1">
                  <c:v>Margarine</c:v>
                </c:pt>
                <c:pt idx="2">
                  <c:v>Olive oil</c:v>
                </c:pt>
                <c:pt idx="3">
                  <c:v>Canola oil</c:v>
                </c:pt>
                <c:pt idx="4">
                  <c:v>Sunflower &amp;
veg oil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3.1</c:v>
                </c:pt>
                <c:pt idx="2">
                  <c:v>5.4</c:v>
                </c:pt>
                <c:pt idx="3">
                  <c:v>2.1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76-4975-BE44-7AA23BE7B2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Protein (%)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14.8</c:v>
                </c:pt>
                <c:pt idx="1">
                  <c:v>15.2</c:v>
                </c:pt>
                <c:pt idx="2">
                  <c:v>15.3</c:v>
                </c:pt>
                <c:pt idx="3">
                  <c:v>15.5</c:v>
                </c:pt>
                <c:pt idx="4">
                  <c:v>15.7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1C-44D6-841A-B9BF5AA1FE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fat (%)</c:v>
                </c:pt>
              </c:strCache>
            </c:strRef>
          </c:tx>
          <c:spPr>
            <a:solidFill>
              <a:srgbClr val="D299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39.1</c:v>
                </c:pt>
                <c:pt idx="1">
                  <c:v>39.1</c:v>
                </c:pt>
                <c:pt idx="2">
                  <c:v>39.200000000000003</c:v>
                </c:pt>
                <c:pt idx="3">
                  <c:v>39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1C-44D6-841A-B9BF5AA1FE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Carbohydrate (%)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44.3</c:v>
                </c:pt>
                <c:pt idx="1">
                  <c:v>43.8</c:v>
                </c:pt>
                <c:pt idx="2">
                  <c:v>43.6</c:v>
                </c:pt>
                <c:pt idx="3">
                  <c:v>43.5</c:v>
                </c:pt>
                <c:pt idx="4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1C-44D6-841A-B9BF5AA1FE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9D1D9"/>
                </a:solidFill>
                <a:latin typeface="Arial"/>
              </a:rPr>
              <a:t>Free sugars (% energy)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sugars (% of energy)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13.6</c:v>
                </c:pt>
                <c:pt idx="1">
                  <c:v>12.8</c:v>
                </c:pt>
                <c:pt idx="2">
                  <c:v>12.1</c:v>
                </c:pt>
                <c:pt idx="3">
                  <c:v>11.6</c:v>
                </c:pt>
                <c:pt idx="4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1-443E-AF20-57CA5DFE95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9D1D9"/>
                </a:solidFill>
                <a:latin typeface="Arial"/>
              </a:rPr>
              <a:t>Dietary fibre (g/10,000 kJ)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Dietary fibre (g/10,000 kJ)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22.1</c:v>
                </c:pt>
                <c:pt idx="1">
                  <c:v>23.1</c:v>
                </c:pt>
                <c:pt idx="2">
                  <c:v>23.9</c:v>
                </c:pt>
                <c:pt idx="3">
                  <c:v>24.7</c:v>
                </c:pt>
                <c:pt idx="4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0-4E33-873F-F257013338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(most disadv.)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Grains &amp;
cereals</c:v>
                </c:pt>
                <c:pt idx="1">
                  <c:v>Veg &amp;
legumes</c:v>
                </c:pt>
                <c:pt idx="2">
                  <c:v>Fruit</c:v>
                </c:pt>
                <c:pt idx="3">
                  <c:v>Dairy &amp;
alternatives</c:v>
                </c:pt>
                <c:pt idx="4">
                  <c:v>Meat, fish,
nuts, eggs</c:v>
                </c:pt>
                <c:pt idx="5">
                  <c:v>Oils &amp;
spreads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2.2999999999999998</c:v>
                </c:pt>
                <c:pt idx="2">
                  <c:v>1.3</c:v>
                </c:pt>
                <c:pt idx="3">
                  <c:v>1.7</c:v>
                </c:pt>
                <c:pt idx="4">
                  <c:v>1.9</c:v>
                </c:pt>
                <c:pt idx="5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01-4CB2-8C64-95E927604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Q5 (least disadv.)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C9D1D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Grains &amp;
cereals</c:v>
                </c:pt>
                <c:pt idx="1">
                  <c:v>Veg &amp;
legumes</c:v>
                </c:pt>
                <c:pt idx="2">
                  <c:v>Fruit</c:v>
                </c:pt>
                <c:pt idx="3">
                  <c:v>Dairy &amp;
alternatives</c:v>
                </c:pt>
                <c:pt idx="4">
                  <c:v>Meat, fish,
nuts, eggs</c:v>
                </c:pt>
                <c:pt idx="5">
                  <c:v>Oils &amp;
spreads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4.5999999999999996</c:v>
                </c:pt>
                <c:pt idx="1">
                  <c:v>3</c:v>
                </c:pt>
                <c:pt idx="2">
                  <c:v>1.8</c:v>
                </c:pt>
                <c:pt idx="3">
                  <c:v>1.7</c:v>
                </c:pt>
                <c:pt idx="4">
                  <c:v>2.2000000000000002</c:v>
                </c:pt>
                <c:pt idx="5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01-4CB2-8C64-95E9276044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61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Geospatial Dietary Indicators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 2023–24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patterns in the Australian food supply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Bureau of Statistics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This Study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scanner data from across Australia — capturing product-level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87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each product to a food classification (AUSNUT) and the sales area to a geographic classification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599" y="3108960"/>
            <a:ext cx="1506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015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food weights per area, standardised to grams per 10,000 kJ — enabling fair comparison across regions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consumption patterns across SEIFA socio-economic quintiles (Q1 = most disadvantaged, Q5 = least)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ABS Apparent Consumption of Selected Foodstuffs, 2023–24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Per 10,000 kJ?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 measure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Store-bought food quantities standardised per unit of dietary energy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differences between areas on a like-for-like basis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across SEIFA socio-economic quintiles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2926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can't 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per-capita consumption (adjustments for non-supermarket shopping aren't perfect)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from cafes, restaurants, fast food, and clubs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 in out-of-home dining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represent grams per 10,000 kJ of the total food supply — not individual consumption.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0058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Averages of total supply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consumers eat ~12 unique foods/day, but </a:t>
            </a:r>
            <a:r>
              <a:rPr lang="en-US" sz="13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ACSF</a:t>
            </a: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based on average amount of hundreds of foods — amounts appear diluted.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1005840" y="269748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Supermarket data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 store-bought food retail, not dining out. The propensity to eat out varies by region and income.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058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Non-supermarket adjustment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adjust for farmers markets, Asian grocers, etc. — but the adjustment isn't perfect across all areas.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the Divide?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SEIFA — Socio-Economic Indexes for Areas — captures multiple dimensions: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81328" cy="5486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12848" y="1645920"/>
            <a:ext cx="1481328" cy="5486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212848" y="16459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77056" y="1645920"/>
            <a:ext cx="1481328" cy="5486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877056" y="16459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&amp; occupational skill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41264" y="1645920"/>
            <a:ext cx="1481328" cy="5486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541264" y="16459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tenure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05472" y="1645920"/>
            <a:ext cx="1481328" cy="5486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205472" y="16459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 car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7680960" cy="19202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modelling (incremental variance) shows: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3063240"/>
            <a:ext cx="3474720" cy="10515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associated with discretionary food choices — reflecting health literacy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474720" cy="10515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+ Income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matter for fruit &amp; vegetables — health literacy plus price as a barrier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Discretionary Foods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more disadvantaged areas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Sugar-Sweetened Beverages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20040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720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 vs Q5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203g vs 115g per 10,000 kJ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58650596"/>
              </p:ext>
            </p:extLst>
          </p:nvPr>
        </p:nvGraphicFramePr>
        <p:xfrm>
          <a:off x="4206240" y="118872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just about high consumption at the bottom — Q5 consumes far less than average too.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soft drinks, energy drinks, cordials. Excludes fruit juice.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&amp; Discretionary Foods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higher in most disadvantaged (Q1) vs least disadvantaged (Q5)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32564027"/>
              </p:ext>
            </p:extLst>
          </p:nvPr>
        </p:nvGraphicFramePr>
        <p:xfrm>
          <a:off x="731520" y="1371600"/>
          <a:ext cx="7772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*Chicken products includes nuggets, coated chicken etc. | Ready meals (~50% higher) excluded due to small base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Meats &amp; Ready Foods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 vs Q5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meat — 22g vs 16g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846320" y="1325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 vs Q5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Sausages — 14g vs 10g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7490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 vs Q5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products — e.g. nuggets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7490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 vs Q5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meals — pizza, pasta dishes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Healthier Foods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less disadvantaged areas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 &amp; Vegetables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46888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6126480" y="1234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1264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fruit in Q5 vs Q1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192g vs 137g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743200"/>
            <a:ext cx="246888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1264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A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~24%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12648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veg in Q5 vs Q1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241g vs 194g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upward gradient across all quintiles for both food groups.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Healthier Foods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higher in least disadvantaged (Q5) vs most disadvantaged (Q1)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22g vs 15g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Yoghurt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34g vs 24g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26g vs 20g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&amp; seafood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20g vs 16g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10896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34747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9D2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347472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fish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4251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coated fish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468880" cy="14630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2179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9D2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oil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17920" y="4251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vs Q1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Nuanced Picture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follows a simple gradient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Confectionery &amp; Chocolate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468880" cy="3200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630936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Surprise: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0936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was 12% higher in least disadvantaged areas (21g vs 18g).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Lollies were similar across all SEIFA quintiles — no meaningful socio-economic gradient.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3566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discretionary foods follow the expected pattern.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Dairy: A Mixed 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dairy consumption is similar, but the types differ significantly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in Q1 (disadvantaged)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milk: +10% (210g vs 192g)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Cream: +15% (8.7g vs 7.5g)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Flavoured milk: +83% (28g vs 15g)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Custard: +52% (3.8g vs 2.5g)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in Q5 (advantaged)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Yoghurt: +41% (34g vs 24g)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Cheese: +15% (26g vs 23g)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alternatives: +65% (26g vs 16g)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cream: similar across quintiles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Reduced-fat milk was more common in less disadvantaged areas.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Meat &amp; Poultry: Similar Total, Different Types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097280"/>
          <a:ext cx="7772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meat &amp; poultry only 4% higher in Q1, but sausages (+40%) and processed meats (+36%) drive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Cereal Products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6% higher in Q5, but the mix differs considerably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745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62g vs 56g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 vs Q5)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78892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 &amp; flour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1874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8892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35g vs 42g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063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 vs Q5)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8745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18g vs 22g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 vs Q5)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8745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6903720" y="1463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 cereal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8745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90372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Q5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13g vs 15g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3063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 vs Q5)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is higher in disadvantaged areas while rice, pasta and breakfast cereals are higher in advantaged areas.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Oils, Fats &amp; Spreads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46888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630936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 oil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0936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higher in Q5. Butter also +23% in Q5.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743200"/>
            <a:ext cx="246888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63093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Margarine &amp; canola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Margarine +84% and canola oil +78% higher in Q1.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Herbs, spices &amp; seasonings: 44% higher in Q5 (10g vs 7g) — reflecting cuisine diversity.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9D2C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Nutrient Impacts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food patterns mean nutritionally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Macronutrient Profile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dietary energy by SEIFA quintile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28016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280160"/>
            <a:ext cx="2468880" cy="3017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630936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D2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 splits are broadly similar across quintiles.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Q1 is slightly higher in carbohydrate and lower in protein.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difference is in food quality, not macros.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Sugars &amp; Dietary Fibre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0972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10972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731520" y="3840480"/>
            <a:ext cx="7772400" cy="8229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2"/>
          <p:cNvSpPr/>
          <p:nvPr/>
        </p:nvSpPr>
        <p:spPr>
          <a:xfrm>
            <a:off x="91440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has 26% more free sugars and 18% less fibre than Q5 — a double disadvantage that compounds chronic disease risk.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Dietary Guidelines Serves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Non-discretionary food group serves per 10,000 kJ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280160"/>
          <a:ext cx="7772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gaps in vegetables (+30%) and fruit (+38%) serves between Q5 and Q1.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This Data?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time the ABS has published area-level dietary data by socio-economic status.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00584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researchers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social determinants of health and diet quality across populations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Policymakers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Informing interventions targeting dietary inequality and food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health agencies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progress on dietary guidelines and chronic disease prevention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00584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government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Area-level data enables targeted, place-based programs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quality over the long term has impacts on risks of chronic conditions: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22860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2860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28600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socio-economic dietary divide carries both: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costs — poorer health outcomes for those in disadvantaged areas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costs — greater burden on the health system from preventable chronic disease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reflect social determinants of health — not just individual choice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8A6FF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FB950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216152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31520" y="1216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socio-economic gradient for many foods — discretionary foods higher in disadvantaged areas, fruit, vegetables and other healthier foods higher in advantaged areas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947672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strongest factor for discretionary food choices; income adds further impact on fruit and vegetable consumption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679192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73152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foods show surprising or flat patterns — chocolate, lollies and ice cream don't follow the typical gradient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10712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nutrient differences are in free sugars (+26% in Q1) and dietary fibre (-18% in Q1) — not macronutrient splits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area-level dietary data by socio-economic status from the ABS — enabling place-based policy responses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58A6FF">
              <a:alpha val="1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FB950">
              <a:alpha val="1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Geospatial Dietary Indicators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 2023–24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Bureau of Statistics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abs.gov.au/articles/geospatial-dietary-indicators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1361</Words>
  <Application>Microsoft Office PowerPoint</Application>
  <PresentationFormat>On-screen Show (16:9)</PresentationFormat>
  <Paragraphs>236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Dietary Indicators, Australia 2023–24</dc:title>
  <dc:subject>PptxGenJS Presentation</dc:subject>
  <dc:creator>Australian Bureau of Statistics</dc:creator>
  <cp:lastModifiedBy>Paul Atyeo</cp:lastModifiedBy>
  <cp:revision>1</cp:revision>
  <dcterms:created xsi:type="dcterms:W3CDTF">2026-03-27T21:29:33Z</dcterms:created>
  <dcterms:modified xsi:type="dcterms:W3CDTF">2026-03-27T21:57:24Z</dcterms:modified>
</cp:coreProperties>
</file>